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uma visão geral do Learning Helper. O projeto nasceu para apoiar a aprendizagem e a rotina do meu filho autista, sem transformar o dia a dia em uma sequência de cobranças.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motivação veio de uma necessidade concreta da nossa família: oferecer ao meu filho uma forma previsível de exercitar habilidades cognitivas e, ao mesmo tempo, apoiá-lo na rotina de ir ao banheiro. O app é um apoio, não um substituto de acompanhamento profissional.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ciclo é curto de propósito. O app agenda o próximo desafio, cobre a tela por alguns instantes, registra a resposta e usa o resultado para ajustar o intervalo e a dificuldade. A criança não fica presa em uma sessão longa.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São sete módulos: cores, cores diferentes, comparação, contas, problemas, perguntas e leitura. A criança começa com Cores, no nível 1, e os outros são liberados aos poucos. Cada módulo aparece uma vez antes de qualquer um repetir.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adaptação não olha uma resposta isolada: ela usa blocos de 10 tentativas. Com 80% ou mais de acerto, o nível sobe; com 40% ou menos, desce. O módulo seguinte só é liberado quando o mais novo atinge o critério. E um módulo já aberto não é fechado de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lembrete de banheiro é independente dos desafios. Por padrão, ele aparece a cada 30 minutos e bloqueia a tela por 1 minuto, com uma contagem regressiva. Se um desafio estiver na tela, ele espera e tenta de novo. A ideia é apoiar a transição e a autonomia, não interromper o aprendizado como punição.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adultos podem ajustar intervalo, critérios de avaliação, feedback, pausa, lembrete de banheiro, módulos ativos e atualizações. A tela aparece automaticamente na primeira execução. Na maior parte dos casos, as mudanças passam a valer no próximo início do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estatísticas ficam em um painel local, aberto no navegador. A aba de evolução mostra tentativas, acertos, precisão e dias ativos; a de módulos mostra níveis e progresso; a de tentativas recentes mostra pergunta, resposta e gabarito. O painel é somente leitura: ele não muda o banco, os níveis ou os desafios.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app foi feito para ser simples de instalar e discreto. Os dados ficam em SQLite na máquina do usuário, a instalação padrão não pede root e as atualizações vêm do GitHub Releases com verificação SHA-256. A atualização é aplicada quando não há desafio nem lembrete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fechar: o Learning Helper é uma forma simples de criar pequenos momentos de aprendizagem e apoiar a rotina, com previsibilidade e sem sobrecarga. O código e as releases estão no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erossa/learning_helper" TargetMode="Externa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herossa/learning_helper" TargetMode="Externa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143000"/>
            <a:ext cx="5760720" cy="1508760"/>
          </a:xfrm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5200" b="1">
                <a:solidFill>
                  <a:srgbClr val="FFFFFF"/>
                </a:solidFill>
                <a:latin typeface="Arial"/>
              </a:rPr>
              <a:t>Learning</a:t>
            </a:r>
          </a:p>
          <a:p>
            <a:pPr algn="l">
              <a:lnSpc>
                <a:spcPct val="92000"/>
              </a:lnSpc>
            </a:pPr>
            <a:r>
              <a:rPr sz="5200" b="1">
                <a:solidFill>
                  <a:srgbClr val="FFFFFF"/>
                </a:solidFill>
                <a:latin typeface="Arial"/>
              </a:rPr>
              <a:t>Helper</a:t>
            </a:r>
          </a:p>
        </p:txBody>
      </p:sp>
      <p:sp>
        <p:nvSpPr>
          <p:cNvPr id="3" name="Oval 2"/>
          <p:cNvSpPr/>
          <p:nvPr/>
        </p:nvSpPr>
        <p:spPr>
          <a:xfrm>
            <a:off x="9509760" y="-1645920"/>
            <a:ext cx="4389120" cy="4389120"/>
          </a:xfrm>
          <a:prstGeom prst="ellipse">
            <a:avLst/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4754880"/>
            <a:ext cx="3840480" cy="3840480"/>
          </a:xfrm>
          <a:prstGeom prst="ellipse">
            <a:avLst/>
          </a:prstGeom>
          <a:solidFill>
            <a:srgbClr val="0B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EAD4"/>
                </a:solidFill>
                <a:latin typeface="Arial"/>
              </a:rPr>
              <a:t>APRESENTAÇÃO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Aprendizagem e rotina no ritmo certo.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54406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D5E1"/>
                </a:solidFill>
                <a:latin typeface="Arial"/>
              </a:rPr>
              <a:t>Desafios curtos, previsíveis e adaptativos para apoiar o desenvolvimento cognitivo e a autonomia de uma criança autista.</a:t>
            </a:r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777240" y="55778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Arial"/>
              </a:rPr>
              <a:t>github.com/herossa/learning_helper 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Uma visão simples do que é, por que existe e como funciona.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106424"/>
            <a:ext cx="5074920" cy="356616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051560"/>
            <a:ext cx="507492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la do desafio de c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510161"/>
            <a:ext cx="4855464" cy="2648957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6720840" y="4690872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Arial"/>
              </a:rPr>
              <a:t>Desafio de cores  •  nível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166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239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2E8F0"/>
                </a:solidFill>
                <a:latin typeface="Arial"/>
              </a:rPr>
              <a:t>7 módulos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5166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5239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2E8F0"/>
                </a:solidFill>
                <a:latin typeface="Arial"/>
              </a:rPr>
              <a:t>5 níveis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5166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5239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2E8F0"/>
                </a:solidFill>
                <a:latin typeface="Arial"/>
              </a:rPr>
              <a:t>1–5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Nasceu de uma necessidade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7706"/>
                </a:solidFill>
                <a:latin typeface="Arial"/>
              </a:rPr>
              <a:t>MOTIVAÇÃO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623560" cy="1216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82296" cy="1216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3351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Desenvolver habilidades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Arial"/>
              </a:rPr>
              <a:t>Cognição, raciocínio lógico, linguagem e atenção em pequenas doses.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5623560" cy="1216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82296" cy="1216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4495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Apoiar a rotina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Arial"/>
              </a:rPr>
              <a:t>Lembretes de banheiro nos intervalos certos, com transição clara.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5623560" cy="1216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82296" cy="1216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Aprender sem sobrecarga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Arial"/>
              </a:rPr>
              <a:t>Layout estável, instruções curtas e feedback gentil.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1563624"/>
            <a:ext cx="4892040" cy="283464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20840" y="1508760"/>
            <a:ext cx="489204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embrete de banhe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79" y="1641510"/>
            <a:ext cx="4709159" cy="2569139"/>
          </a:xfrm>
          <a:prstGeom prst="rect">
            <a:avLst/>
          </a:prstGeom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6766560" y="4526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Lembrete de banheiro: parte do cuidado, não uma punição.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Não substitui acompanhamento pedagógico, fonoaudiológico ou terapêutico.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Um ciclo curto, simples e previsível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COMO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Arial"/>
              </a:rPr>
              <a:t>O app aparece na hora certa, faz uma pergunta e devolve a tela.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1600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2194560"/>
            <a:ext cx="594360" cy="59436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225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4436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10128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Intervalo de 1 a 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2284" y="2697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1798" y="2011680"/>
            <a:ext cx="1600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04718" y="2194560"/>
            <a:ext cx="594360" cy="594360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4718" y="23225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D9488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1526" y="294436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Desafio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1526" y="3310128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Cobre a tela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4002" y="2697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3516" y="2011680"/>
            <a:ext cx="1600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66436" y="2194560"/>
            <a:ext cx="594360" cy="59436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6436" y="23225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770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3244" y="294436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Resposta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3244" y="3310128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Clique ou digite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5720" y="2697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5235" y="2011680"/>
            <a:ext cx="1600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28155" y="2194560"/>
            <a:ext cx="594360" cy="59436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8155" y="23225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4963" y="294436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4963" y="3310128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Certo! / Quase!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7439" y="2697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6953" y="2011680"/>
            <a:ext cx="1600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89873" y="2194560"/>
            <a:ext cx="594360" cy="594360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9873" y="23225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D9488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6681" y="294436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Registro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6681" y="3310128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Tentativa no SQLite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9157" y="26974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Arial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48672" y="2011680"/>
            <a:ext cx="1600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51592" y="2194560"/>
            <a:ext cx="594360" cy="59436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1592" y="232257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7706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399" y="294436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Ajuste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399" y="3310128"/>
            <a:ext cx="13807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Sobe ou desce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526280"/>
            <a:ext cx="10908792" cy="12344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Arial"/>
              </a:rPr>
              <a:t>Intervalo inicial de 3 min  •  acerto +30 s  •  erro −30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1663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Os limites de 1 a 5 minutos e a dificuldade acompanham o ritmo da criança.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A tela é liberada logo depois do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Sete tipos de desafio, uma coisa de cada vez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OS MÓDULOS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Começa com Cores. Os demais são desbloqueados conforme o desempenho.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" y="1874519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safio de co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977051"/>
            <a:ext cx="2423160" cy="132198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17804" y="3383279"/>
            <a:ext cx="2386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01  ·  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6996" y="1874519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safio de cores diferen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436" y="1977051"/>
            <a:ext cx="2423160" cy="132198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506724" y="3383279"/>
            <a:ext cx="2386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02  ·  Cores diferentes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5916" y="1874519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safio de comparaçã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1977051"/>
            <a:ext cx="2423160" cy="132198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295644" y="3383279"/>
            <a:ext cx="2386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03  ·  Comparação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4836" y="1874519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safio de cont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6276" y="1977051"/>
            <a:ext cx="2423160" cy="132198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9084564" y="3383279"/>
            <a:ext cx="2386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04  ·  Contas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" y="3913631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afio de problem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016163"/>
            <a:ext cx="2423160" cy="132198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717804" y="5422392"/>
            <a:ext cx="2386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05  ·  Problemas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6996" y="3913631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esafio de pergunta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8436" y="4016163"/>
            <a:ext cx="2423160" cy="132198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3506724" y="5422392"/>
            <a:ext cx="2386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06  ·  Perguntas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5916" y="3913631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esafio de leitur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7356" y="4016163"/>
            <a:ext cx="2423160" cy="132198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6295644" y="5422392"/>
            <a:ext cx="2386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  <a:latin typeface="Arial"/>
              </a:rPr>
              <a:t>07  ·  Leitura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4836" y="3913631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1996" y="4169663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Arial"/>
              </a:rPr>
              <a:t>5 níveis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1996" y="451713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por módulo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9428" y="4974336"/>
            <a:ext cx="22768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D9488"/>
                </a:solidFill>
                <a:latin typeface="Arial"/>
              </a:rPr>
              <a:t>Cada módulo aparece uma vez antes de repetir.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Módulos desativados são pulados, mas o progresso fica guardado.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O desafio acompanha o ritmo dele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7706"/>
                </a:solidFill>
                <a:latin typeface="Arial"/>
              </a:rPr>
              <a:t>ADAPTAÇÃO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64008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9105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63EB"/>
                </a:solidFill>
                <a:latin typeface="Arial"/>
              </a:rPr>
              <a:t>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níveis por módulo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46304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463040"/>
            <a:ext cx="64008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59105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D9488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2140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tentativas por avaliação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34640"/>
            <a:ext cx="64008" cy="1188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6265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Arial"/>
              </a:rPr>
              <a:t>≥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9300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sobe de nível e desbloqueia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283464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80" y="2834640"/>
            <a:ext cx="64008" cy="1188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96265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2410C"/>
                </a:solidFill>
                <a:latin typeface="Arial"/>
              </a:rPr>
              <a:t>≤ 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49300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desce de nível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1827"/>
                </a:solidFill>
                <a:latin typeface="Arial"/>
              </a:rPr>
              <a:t>A cada bloco de 10 tentativas, o app calcula a precisão. O nível sobe, desce ou permanece — e o próximo módulo pode ser liberado.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Módulo já desbloqueado não desaparece se o desempenho cair.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1481328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Arial"/>
              </a:rPr>
              <a:t>Trilha de níveis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18105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803D"/>
                </a:solidFill>
                <a:latin typeface="Arial"/>
              </a:rPr>
              <a:t>sobe com ≥ 80%   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2402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235000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7797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Arial"/>
              </a:rPr>
              <a:t>nível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22402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3448" y="235000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27797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Arial"/>
              </a:rPr>
              <a:t>nível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9016" y="22402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9016" y="235000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63EB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9016" y="27797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Arial"/>
              </a:rPr>
              <a:t>nível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44584" y="22402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4584" y="235000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27797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Arial"/>
              </a:rPr>
              <a:t>nível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60152" y="22402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60152" y="235000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0152" y="27797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Arial"/>
              </a:rPr>
              <a:t>nível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2918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410C"/>
                </a:solidFill>
                <a:latin typeface="Arial"/>
              </a:rPr>
              <a:t>←   desce com ≤ 40%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97880" y="3977639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00507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O módulo seguinte é liberado quando o módulo mais novo atinge 80%.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5120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Cada módulo tem sua própria trilha de 1 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Um lembrete que ajuda na transição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ROTINA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72184"/>
            <a:ext cx="5897880" cy="342900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89788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la do lembrete de banhe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876"/>
            <a:ext cx="5715000" cy="3117887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40080" y="49834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rial"/>
              </a:rPr>
              <a:t>Tela de lembrete com contagem regressiva.</a:t>
            </a:r>
          </a:p>
        </p:txBody>
      </p:sp>
      <p:sp>
        <p:nvSpPr>
          <p:cNvPr id="12" name="Oval 11"/>
          <p:cNvSpPr/>
          <p:nvPr/>
        </p:nvSpPr>
        <p:spPr>
          <a:xfrm>
            <a:off x="6629400" y="1627632"/>
            <a:ext cx="256032" cy="256032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02552" y="1700784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5544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Arial"/>
              </a:rPr>
              <a:t>A cada 30 minutos, por padrão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377440"/>
            <a:ext cx="256032" cy="256032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2552" y="2450592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30428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Arial"/>
              </a:rPr>
              <a:t>1 minuto de tela com contagem regressiva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3127248"/>
            <a:ext cx="256032" cy="256032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02552" y="320040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05409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Arial"/>
              </a:rPr>
              <a:t>Se houver desafio na tela, espera e tenta de novo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3877056"/>
            <a:ext cx="256032" cy="256032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02552" y="3950208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80390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11827"/>
                </a:solidFill>
                <a:latin typeface="Arial"/>
              </a:rPr>
              <a:t>Independe do desempenho nos desafios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70916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8920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9488"/>
                </a:solidFill>
                <a:latin typeface="Arial"/>
              </a:rPr>
              <a:t>Faz parte do cuidado com a rotina — não é punição.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806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O intervalo e a duração podem ser ajustados nas configurações.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Os adultos ajustam o que faz sentido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CONFIGURAÇÕES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72184"/>
            <a:ext cx="4160520" cy="425196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4160520" cy="4251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anela de configuraçõ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34099"/>
            <a:ext cx="4014215" cy="38184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580644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A primeira execução já abre essa tela.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1527048"/>
            <a:ext cx="329184" cy="329184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58191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5087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Arial"/>
              </a:rPr>
              <a:t>Intervalo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mínimo, máximo, inicial e passo por resposta</a:t>
            </a:r>
          </a:p>
        </p:txBody>
      </p:sp>
      <p:sp>
        <p:nvSpPr>
          <p:cNvPr id="16" name="Oval 15"/>
          <p:cNvSpPr/>
          <p:nvPr/>
        </p:nvSpPr>
        <p:spPr>
          <a:xfrm>
            <a:off x="4937760" y="2331720"/>
            <a:ext cx="329184" cy="329184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3865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3134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Arial"/>
              </a:rPr>
              <a:t>Avaliação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1343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janela de tentativas, limiares e nível máximo</a:t>
            </a:r>
          </a:p>
        </p:txBody>
      </p:sp>
      <p:sp>
        <p:nvSpPr>
          <p:cNvPr id="20" name="Oval 19"/>
          <p:cNvSpPr/>
          <p:nvPr/>
        </p:nvSpPr>
        <p:spPr>
          <a:xfrm>
            <a:off x="4937760" y="3136392"/>
            <a:ext cx="329184" cy="329184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19125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118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Arial"/>
              </a:rPr>
              <a:t>Ritmo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18104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duração do feedback e pausa do adulto</a:t>
            </a:r>
          </a:p>
        </p:txBody>
      </p:sp>
      <p:sp>
        <p:nvSpPr>
          <p:cNvPr id="24" name="Oval 23"/>
          <p:cNvSpPr/>
          <p:nvPr/>
        </p:nvSpPr>
        <p:spPr>
          <a:xfrm>
            <a:off x="4937760" y="3941063"/>
            <a:ext cx="329184" cy="329184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99592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92277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Arial"/>
              </a:rPr>
              <a:t>Rotina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2277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lembrete de banheiro e módulos ativos</a:t>
            </a:r>
          </a:p>
        </p:txBody>
      </p:sp>
      <p:sp>
        <p:nvSpPr>
          <p:cNvPr id="28" name="Oval 27"/>
          <p:cNvSpPr/>
          <p:nvPr/>
        </p:nvSpPr>
        <p:spPr>
          <a:xfrm>
            <a:off x="4937760" y="4745736"/>
            <a:ext cx="329184" cy="329184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8006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72744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827"/>
                </a:solidFill>
                <a:latin typeface="Arial"/>
              </a:rPr>
              <a:t>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727448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caminho do banco e verificação de atualizações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5486400"/>
            <a:ext cx="6400800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559612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Arial"/>
              </a:rPr>
              <a:t>As mudanças valem no próximo início do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Dados para acompanhar, não para pressionar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7706"/>
                </a:solidFill>
                <a:latin typeface="Arial"/>
              </a:rPr>
              <a:t>ACOMPANHAMENTO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26464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inel de evoluçã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47" y="1444752"/>
            <a:ext cx="5148745" cy="4425696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40080" y="59893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Painel de evolução (dados de demonstração).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64008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00784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Evolução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3911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Tentativas, acertos, precisão, dias ativos e gráficos por 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788920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788920"/>
            <a:ext cx="64008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935224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Módulos e níveis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7355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Nível atual, progresso e módulos desbloqueados.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023360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023360"/>
            <a:ext cx="64008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9664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</a:rPr>
              <a:t>Tentativas recentes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0799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Pergunta, resposta, gabarito e resultado de cada tentativa.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5349240"/>
            <a:ext cx="5166360" cy="5943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51383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7706"/>
                </a:solidFill>
                <a:latin typeface="Arial"/>
              </a:rPr>
              <a:t>Somente leitura: não altera níveis, banco ou desafios.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49808"/>
            <a:ext cx="10881360" cy="658368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000" b="1">
                <a:solidFill>
                  <a:srgbClr val="111827"/>
                </a:solidFill>
                <a:latin typeface="Arial"/>
              </a:rPr>
              <a:t>Simples de instalar. Local por padrão.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TECNOLOGIA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0879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Learning Helper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667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91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574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Dados locais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SQLite na pasta do usuário. Nada é enviado para servidores.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50876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691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574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Instalação por usuário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Windows e Linux, sem root por padrão.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Atualização segura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GitHub Releases com verificação SHA-256.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50876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1691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0574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App desktop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Arial"/>
              </a:rPr>
              <a:t>Python + customtkinter, rodando junto com a rotina.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60520"/>
            <a:ext cx="10908792" cy="5486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1596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803D"/>
                </a:solidFill>
                <a:latin typeface="Arial"/>
              </a:rPr>
              <a:t>Sem conta.   Sem servidor.   Sem envio de dados.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84648"/>
            <a:ext cx="10561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Windows 10/11   •   Linux x86_64   •   Setup.exe   •   AppImage   •   tar.gz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Linux: ~/.local/share/learning_helper     Windows: %LOCALAPPDATA%\learning_helper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17320"/>
            <a:ext cx="8138160" cy="1508760"/>
          </a:xfrm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Aprender com previsibilidade.</a:t>
            </a:r>
          </a:p>
          <a:p>
            <a:pPr algn="l">
              <a:lnSpc>
                <a:spcPct val="98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Crescer com autonomia.</a:t>
            </a:r>
          </a:p>
        </p:txBody>
      </p:sp>
      <p:sp>
        <p:nvSpPr>
          <p:cNvPr id="3" name="Oval 2"/>
          <p:cNvSpPr/>
          <p:nvPr/>
        </p:nvSpPr>
        <p:spPr>
          <a:xfrm>
            <a:off x="9052560" y="-1371600"/>
            <a:ext cx="4206240" cy="4206240"/>
          </a:xfrm>
          <a:prstGeom prst="ellipse">
            <a:avLst/>
          </a:prstGeom>
          <a:solidFill>
            <a:srgbClr val="1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97680"/>
            <a:ext cx="4389120" cy="4389120"/>
          </a:xfrm>
          <a:prstGeom prst="ellipse">
            <a:avLst/>
          </a:prstGeom>
          <a:solidFill>
            <a:srgbClr val="0B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EAD4"/>
                </a:solidFill>
                <a:latin typeface="Arial"/>
              </a:rPr>
              <a:t>LEARNING HELPER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BD5E1"/>
                </a:solidFill>
                <a:latin typeface="Arial"/>
              </a:rPr>
              <a:t>Pequenos desafios, uma rotina mais leve e dados que ajudam a acompanhar o progresso.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822960" y="4617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EEAD4"/>
                </a:solidFill>
                <a:latin typeface="Arial"/>
              </a:rPr>
              <a:t>github.com/herossa/learning_helper 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Obrigado.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49834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50749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2E8F0"/>
                </a:solidFill>
                <a:latin typeface="Arial"/>
              </a:rPr>
              <a:t>7 módulos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9834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50749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2E8F0"/>
                </a:solidFill>
                <a:latin typeface="Arial"/>
              </a:rPr>
              <a:t>1–5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49834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35640" y="50749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2E8F0"/>
                </a:solidFill>
                <a:latin typeface="Arial"/>
              </a:rPr>
              <a:t>100%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